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8" r:id="rId11"/>
    <p:sldId id="266" r:id="rId12"/>
    <p:sldId id="267" r:id="rId13"/>
  </p:sldIdLst>
  <p:sldSz cx="12192000" cy="6858000"/>
  <p:notesSz cx="6858000" cy="9144000"/>
  <p:embeddedFontLst>
    <p:embeddedFont>
      <p:font typeface="Inter" panose="020B0604020202020204" charset="0"/>
      <p:regular r:id="rId15"/>
      <p:bold r:id="rId16"/>
      <p:italic r:id="rId17"/>
      <p:boldItalic r:id="rId18"/>
    </p:embeddedFont>
    <p:embeddedFont>
      <p:font typeface="Poppins" panose="00000500000000000000" pitchFamily="2" charset="0"/>
      <p:regular r:id="rId19"/>
      <p:bold r:id="rId20"/>
      <p:italic r:id="rId21"/>
      <p:boldItalic r:id="rId22"/>
    </p:embeddedFont>
    <p:embeddedFont>
      <p:font typeface="Poppins SemiBold" panose="000007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72A"/>
    <a:srgbClr val="3B8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16165C6-2B43-4A2D-B87F-E65BA97FB147}">
  <a:tblStyle styleId="{116165C6-2B43-4A2D-B87F-E65BA97FB14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5045765187107288"/>
          <c:y val="0.15810132835331467"/>
          <c:w val="0.49908469625785423"/>
          <c:h val="0.79045643768805351"/>
        </c:manualLayout>
      </c:layout>
      <c:radarChart>
        <c:radarStyle val="marker"/>
        <c:varyColors val="0"/>
        <c:ser>
          <c:idx val="0"/>
          <c:order val="0"/>
          <c:tx>
            <c:strRef>
              <c:f>Sheet1!$F$1</c:f>
              <c:strCache>
                <c:ptCount val="1"/>
                <c:pt idx="0">
                  <c:v>Voxel + A*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 w="9525">
                <a:solidFill>
                  <a:schemeClr val="accent1"/>
                </a:solidFill>
                <a:round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marker>
          <c:cat>
            <c:strRef>
              <c:f>Sheet1!$E$2:$E$6</c:f>
              <c:strCache>
                <c:ptCount val="5"/>
                <c:pt idx="0">
                  <c:v>Швидкість пошуку</c:v>
                </c:pt>
                <c:pt idx="1">
                  <c:v>Частка знайдених шляхів</c:v>
                </c:pt>
                <c:pt idx="2">
                  <c:v>Короткість шляху</c:v>
                </c:pt>
                <c:pt idx="3">
                  <c:v>Безпека знайдених шляхів</c:v>
                </c:pt>
                <c:pt idx="4">
                  <c:v>Ефективність ОЗП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0.97772061290683365</c:v>
                </c:pt>
                <c:pt idx="1">
                  <c:v>1</c:v>
                </c:pt>
                <c:pt idx="2">
                  <c:v>0.52400835073068897</c:v>
                </c:pt>
                <c:pt idx="3">
                  <c:v>0.39324618736383443</c:v>
                </c:pt>
                <c:pt idx="4">
                  <c:v>0.98463779570938104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71-4889-825F-6BB3B1512EDD}"/>
            </c:ext>
          </c:extLst>
        </c:ser>
        <c:ser>
          <c:idx val="1"/>
          <c:order val="1"/>
          <c:tx>
            <c:strRef>
              <c:f>Sheet1!$G$1</c:f>
              <c:strCache>
                <c:ptCount val="1"/>
                <c:pt idx="0">
                  <c:v>NavMesh</c:v>
                </c:pt>
              </c:strCache>
            </c:strRef>
          </c:tx>
          <c:spPr>
            <a:ln w="34925" cap="rnd">
              <a:solidFill>
                <a:schemeClr val="accent2"/>
              </a:solidFill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2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2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 w="9525">
                <a:solidFill>
                  <a:schemeClr val="accent2"/>
                </a:solidFill>
                <a:round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marker>
          <c:cat>
            <c:strRef>
              <c:f>Sheet1!$E$2:$E$6</c:f>
              <c:strCache>
                <c:ptCount val="5"/>
                <c:pt idx="0">
                  <c:v>Швидкість пошуку</c:v>
                </c:pt>
                <c:pt idx="1">
                  <c:v>Частка знайдених шляхів</c:v>
                </c:pt>
                <c:pt idx="2">
                  <c:v>Короткість шляху</c:v>
                </c:pt>
                <c:pt idx="3">
                  <c:v>Безпека знайдених шляхів</c:v>
                </c:pt>
                <c:pt idx="4">
                  <c:v>Ефективність ОЗП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</c:v>
                </c:pt>
                <c:pt idx="1">
                  <c:v>0.97154471544715437</c:v>
                </c:pt>
                <c:pt idx="2">
                  <c:v>0.40443052655996281</c:v>
                </c:pt>
                <c:pt idx="3">
                  <c:v>0.2222222222222221</c:v>
                </c:pt>
                <c:pt idx="4">
                  <c:v>0.99994608076110159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971-4889-825F-6BB3B1512EDD}"/>
            </c:ext>
          </c:extLst>
        </c:ser>
        <c:ser>
          <c:idx val="2"/>
          <c:order val="2"/>
          <c:tx>
            <c:strRef>
              <c:f>Sheet1!$H$1</c:f>
              <c:strCache>
                <c:ptCount val="1"/>
                <c:pt idx="0">
                  <c:v>RRT*</c:v>
                </c:pt>
              </c:strCache>
            </c:strRef>
          </c:tx>
          <c:spPr>
            <a:ln w="34925" cap="rnd">
              <a:solidFill>
                <a:schemeClr val="accent3"/>
              </a:solidFill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3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3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 w="9525">
                <a:solidFill>
                  <a:schemeClr val="accent3"/>
                </a:solidFill>
                <a:round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marker>
          <c:cat>
            <c:strRef>
              <c:f>Sheet1!$E$2:$E$6</c:f>
              <c:strCache>
                <c:ptCount val="5"/>
                <c:pt idx="0">
                  <c:v>Швидкість пошуку</c:v>
                </c:pt>
                <c:pt idx="1">
                  <c:v>Частка знайдених шляхів</c:v>
                </c:pt>
                <c:pt idx="2">
                  <c:v>Короткість шляху</c:v>
                </c:pt>
                <c:pt idx="3">
                  <c:v>Безпека знайдених шляхів</c:v>
                </c:pt>
                <c:pt idx="4">
                  <c:v>Ефективність ОЗП</c:v>
                </c:pt>
              </c:strCache>
            </c: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0.64718711553517505</c:v>
                </c:pt>
                <c:pt idx="1">
                  <c:v>9.7560975609756115E-2</c:v>
                </c:pt>
                <c:pt idx="2">
                  <c:v>0.97865924379494318</c:v>
                </c:pt>
                <c:pt idx="3">
                  <c:v>0.97603485838779958</c:v>
                </c:pt>
                <c:pt idx="4">
                  <c:v>0.6536027023096278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971-4889-825F-6BB3B1512E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731193663"/>
        <c:axId val="1731190303"/>
      </c:radarChart>
      <c:catAx>
        <c:axId val="17311936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uk-UA"/>
          </a:p>
        </c:txPr>
        <c:crossAx val="1731190303"/>
        <c:crosses val="autoZero"/>
        <c:auto val="1"/>
        <c:lblAlgn val="ctr"/>
        <c:lblOffset val="100"/>
        <c:noMultiLvlLbl val="0"/>
      </c:catAx>
      <c:valAx>
        <c:axId val="17311903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uk-UA"/>
          </a:p>
        </c:txPr>
        <c:crossAx val="17311936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uk-UA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0F172A"/>
    </a:solidFill>
    <a:ln>
      <a:noFill/>
    </a:ln>
    <a:effectLst/>
  </c:spPr>
  <c:txPr>
    <a:bodyPr/>
    <a:lstStyle/>
    <a:p>
      <a:pPr>
        <a:defRPr/>
      </a:pPr>
      <a:endParaRPr lang="uk-UA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1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/>
    </cs:fontRef>
    <cs:defRPr sz="1197" kern="1200"/>
  </cs:dataLabel>
  <cs:dataLabelCallout>
    <cs:lnRef idx="0"/>
    <cs:fillRef idx="0"/>
    <cs:effectRef idx="0"/>
    <cs:fontRef idx="minor">
      <a:schemeClr val="lt1">
        <a:lumMod val="15000"/>
        <a:lumOff val="85000"/>
      </a:schemeClr>
    </cs:fontRef>
    <cs:spPr>
      <a:solidFill>
        <a:schemeClr val="dk1">
          <a:lumMod val="65000"/>
          <a:lumOff val="35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85000"/>
      </a:schemeClr>
    </cs:fontRef>
    <cs:defRPr sz="1862" b="1" kern="1200" cap="none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25400" cap="rnd">
        <a:solidFill>
          <a:schemeClr val="phClr">
            <a:alpha val="50000"/>
          </a:schemeClr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7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>
          <a:extLst>
            <a:ext uri="{FF2B5EF4-FFF2-40B4-BE49-F238E27FC236}">
              <a16:creationId xmlns:a16="http://schemas.microsoft.com/office/drawing/2014/main" id="{533138A0-6A59-EBDD-AAE1-4CE0F932A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0:notes">
            <a:extLst>
              <a:ext uri="{FF2B5EF4-FFF2-40B4-BE49-F238E27FC236}">
                <a16:creationId xmlns:a16="http://schemas.microsoft.com/office/drawing/2014/main" id="{6754C75E-D2D7-0BE3-409B-2ADACED2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0:notes">
            <a:extLst>
              <a:ext uri="{FF2B5EF4-FFF2-40B4-BE49-F238E27FC236}">
                <a16:creationId xmlns:a16="http://schemas.microsoft.com/office/drawing/2014/main" id="{EEA7682E-A0BF-137D-D2CD-07D69F0F4B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85080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668017"/>
            <a:ext cx="8572500" cy="1521767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95437" y="1515665"/>
            <a:ext cx="9001125" cy="1131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 dirty="0" err="1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Дослідження</a:t>
            </a:r>
            <a:r>
              <a:rPr lang="en-US" sz="4050" b="1" i="0" u="none" strike="noStrike" cap="none" dirty="0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50" b="1" i="0" u="none" strike="noStrike" cap="none" dirty="0" err="1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генерації</a:t>
            </a:r>
            <a:r>
              <a:rPr lang="en-US" sz="4050" b="1" i="0" u="none" strike="noStrike" cap="none" dirty="0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50" b="1" i="0" u="none" strike="noStrike" cap="none" dirty="0" err="1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безпечного</a:t>
            </a:r>
            <a:r>
              <a:rPr lang="en-US" sz="4050" b="1" i="0" u="none" strike="noStrike" cap="none" dirty="0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050" b="1" i="0" u="none" strike="noStrike" cap="none" dirty="0" err="1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шляху</a:t>
            </a:r>
            <a:r>
              <a:rPr lang="en-US" sz="4050" b="1" i="0" u="none" strike="noStrike" cap="none" dirty="0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 NPC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1809750" y="2913757"/>
            <a:ext cx="8572500" cy="373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у 3D просторі для ігор жанру платформер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809750" y="4134742"/>
            <a:ext cx="8572500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Правосуд Олександр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Олександрович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ІПЗм-24-3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1809750" y="4546103"/>
            <a:ext cx="8572500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Науковий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керівник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uk-UA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к.н.т</a:t>
            </a:r>
            <a:r>
              <a:rPr lang="uk-UA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.,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доц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lang="uk-UA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каф. ПІ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Кравець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Наталя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Сергіївна</a:t>
            </a:r>
            <a:endParaRPr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809750" y="4976514"/>
            <a:ext cx="85725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Харківський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національний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університет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радіоелектроніки</a:t>
            </a:r>
            <a:endParaRPr lang="uk-UA" sz="120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22 травня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730103"/>
            <a:ext cx="5324475" cy="2226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730103"/>
            <a:ext cx="5324475" cy="2226468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876300" y="3025378"/>
            <a:ext cx="4970621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Специфіка Платформерів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876300" y="3530203"/>
            <a:ext cx="4733925" cy="959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На відміну від RTS, агент у платформері повинен долати розриви геометрії, розраховуючи балістичні траєкторії стрибків з урахуванням гравітації та кінематичних обмежень.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6581775" y="3025378"/>
            <a:ext cx="4970621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Мета Дослідження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6581775" y="3530203"/>
            <a:ext cx="4733925" cy="959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Розробити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метод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програмну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систему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автоматизованого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планування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руху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в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дискретних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3D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просторах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без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ручного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розставлення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Off-Mesh Links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дизайнером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Проблема Навігації в 3D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9;p15">
            <a:extLst>
              <a:ext uri="{FF2B5EF4-FFF2-40B4-BE49-F238E27FC236}">
                <a16:creationId xmlns:a16="http://schemas.microsoft.com/office/drawing/2014/main" id="{03F6528C-A156-8826-650A-844585D5FD56}"/>
              </a:ext>
            </a:extLst>
          </p:cNvPr>
          <p:cNvSpPr txBox="1"/>
          <p:nvPr/>
        </p:nvSpPr>
        <p:spPr>
          <a:xfrm>
            <a:off x="11390654" y="581025"/>
            <a:ext cx="14370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2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256829"/>
            <a:ext cx="3517850" cy="3173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7000" y="2256829"/>
            <a:ext cx="3517850" cy="3173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92975" y="2256829"/>
            <a:ext cx="3517850" cy="3173015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828675" y="3114079"/>
            <a:ext cx="317367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Представлення Простору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28675" y="3571279"/>
            <a:ext cx="3022550" cy="1745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Аналіз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NavMesh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підтвердив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нездатність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автоматично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обробляти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вертикальну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геометрію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Розріджені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воксельні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октодерева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визначені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як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оптимальна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структура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4584650" y="3114079"/>
            <a:ext cx="317367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Алгоритми Пошуку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4584650" y="3571279"/>
            <a:ext cx="3022550" cy="119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Класичний A* не враховує інерцію. Використання iDb-A* дозволяє розширити простір станів, включивши вектор швидкості для фізичної досяжності.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8340625" y="3114079"/>
            <a:ext cx="317367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Машинне Навчання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8340625" y="3571279"/>
            <a:ext cx="3022550" cy="119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Нейромережеві агенти на Obstacle Tower погано узагальнюються на нові рівні. Це обґрунтовує вибір детермінованого кінодинамічного підходу.</a:t>
            </a:r>
            <a:endParaRPr/>
          </a:p>
        </p:txBody>
      </p:sp>
      <p:pic>
        <p:nvPicPr>
          <p:cNvPr id="126" name="Google Shape;126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28675" y="2542579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4650" y="254257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40625" y="2542579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Аналіз</a:t>
            </a:r>
            <a:r>
              <a:rPr lang="en-US" sz="2850" b="1" i="0" u="none" strike="noStrike" cap="none" dirty="0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2850" b="1" i="0" u="none" strike="noStrike" cap="none" dirty="0" err="1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Наукових</a:t>
            </a:r>
            <a:r>
              <a:rPr lang="en-US" sz="2850" b="1" i="0" u="none" strike="noStrike" cap="none" dirty="0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2850" b="1" i="0" u="none" strike="noStrike" cap="none" dirty="0" err="1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Джерел</a:t>
            </a:r>
            <a:endParaRPr dirty="0"/>
          </a:p>
        </p:txBody>
      </p:sp>
      <p:sp>
        <p:nvSpPr>
          <p:cNvPr id="130" name="Google Shape;130;p16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9;p15">
            <a:extLst>
              <a:ext uri="{FF2B5EF4-FFF2-40B4-BE49-F238E27FC236}">
                <a16:creationId xmlns:a16="http://schemas.microsoft.com/office/drawing/2014/main" id="{3FDBA62B-222D-6009-21B0-DFA8A23DFDB6}"/>
              </a:ext>
            </a:extLst>
          </p:cNvPr>
          <p:cNvSpPr txBox="1"/>
          <p:nvPr/>
        </p:nvSpPr>
        <p:spPr>
          <a:xfrm>
            <a:off x="11390654" y="581025"/>
            <a:ext cx="14370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3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047976"/>
            <a:ext cx="11029950" cy="1043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 txBox="1"/>
          <p:nvPr/>
        </p:nvSpPr>
        <p:spPr>
          <a:xfrm>
            <a:off x="781050" y="4571851"/>
            <a:ext cx="10629900" cy="226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10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Мінімізація цільової функції вартості маршруту з урахуванням фактору безпеки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914400" y="2747218"/>
            <a:ext cx="10696575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Безпека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Траєкторія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не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повинна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перетинати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перешкоди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небезпечні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зони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914400" y="3130004"/>
            <a:ext cx="10696575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Кінематика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Сила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стрибка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вектор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швидкості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обмежені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фізичними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характеристиками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агента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914400" y="3512790"/>
            <a:ext cx="10696575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Валідність: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Кут нахилу поверхні приземлення повинен відповідати умовам стабільності.</a:t>
            </a:r>
            <a:endParaRPr/>
          </a:p>
        </p:txBody>
      </p:sp>
      <p:pic>
        <p:nvPicPr>
          <p:cNvPr id="142" name="Google Shape;14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79008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172866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3555652"/>
            <a:ext cx="1524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Постановка Задачі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9;p15">
            <a:extLst>
              <a:ext uri="{FF2B5EF4-FFF2-40B4-BE49-F238E27FC236}">
                <a16:creationId xmlns:a16="http://schemas.microsoft.com/office/drawing/2014/main" id="{E2BEABEE-93CF-9986-A679-493A5AFEC9A9}"/>
              </a:ext>
            </a:extLst>
          </p:cNvPr>
          <p:cNvSpPr txBox="1"/>
          <p:nvPr/>
        </p:nvSpPr>
        <p:spPr>
          <a:xfrm>
            <a:off x="11390654" y="581025"/>
            <a:ext cx="14370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4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5D3CA8-D1E2-16A9-51A3-4F535F09336D}"/>
              </a:ext>
            </a:extLst>
          </p:cNvPr>
          <p:cNvSpPr txBox="1"/>
          <p:nvPr/>
        </p:nvSpPr>
        <p:spPr>
          <a:xfrm>
            <a:off x="3048000" y="4164163"/>
            <a:ext cx="6096000" cy="361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140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Критерій оптимальності</a:t>
            </a:r>
            <a:endParaRPr lang="uk-UA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9700"/>
            <a:ext cx="11029950" cy="486727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81025" y="2508051"/>
            <a:ext cx="11029950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Багатокритеріальний аналіз (ваги: безпека 0.35, адаптивність 0.25, швидкість 0.20)</a:t>
            </a:r>
            <a:endParaRPr/>
          </a:p>
        </p:txBody>
      </p:sp>
      <p:sp>
        <p:nvSpPr>
          <p:cNvPr id="154" name="Google Shape;154;p18"/>
          <p:cNvSpPr txBox="1"/>
          <p:nvPr/>
        </p:nvSpPr>
        <p:spPr>
          <a:xfrm>
            <a:off x="581025" y="4938712"/>
            <a:ext cx="11029950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Воксельний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A*, RRT* </a:t>
            </a:r>
            <a:r>
              <a:rPr lang="uk-UA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та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NavMesh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обрано</a:t>
            </a:r>
            <a:r>
              <a:rPr lang="en-US" sz="1350" i="1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uk-UA" sz="1350" i="1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у якості алгоритмів для порівняння</a:t>
            </a:r>
            <a:endParaRPr dirty="0"/>
          </a:p>
        </p:txBody>
      </p:sp>
      <p:sp>
        <p:nvSpPr>
          <p:cNvPr id="155" name="Google Shape;155;p18"/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Вибір Алгоритмічного Базису</a:t>
            </a:r>
            <a:endParaRPr/>
          </a:p>
        </p:txBody>
      </p:sp>
      <p:sp>
        <p:nvSpPr>
          <p:cNvPr id="156" name="Google Shape;156;p18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9;p15">
            <a:extLst>
              <a:ext uri="{FF2B5EF4-FFF2-40B4-BE49-F238E27FC236}">
                <a16:creationId xmlns:a16="http://schemas.microsoft.com/office/drawing/2014/main" id="{C66A1B50-9E8E-24E4-3210-2B6A707BF11E}"/>
              </a:ext>
            </a:extLst>
          </p:cNvPr>
          <p:cNvSpPr txBox="1"/>
          <p:nvPr/>
        </p:nvSpPr>
        <p:spPr>
          <a:xfrm>
            <a:off x="11390654" y="581025"/>
            <a:ext cx="14370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5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581025" y="4293096"/>
            <a:ext cx="369374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SceneVoxelizer</a:t>
            </a:r>
            <a:endParaRPr/>
          </a:p>
        </p:txBody>
      </p:sp>
      <p:sp>
        <p:nvSpPr>
          <p:cNvPr id="164" name="Google Shape;164;p19"/>
          <p:cNvSpPr txBox="1"/>
          <p:nvPr/>
        </p:nvSpPr>
        <p:spPr>
          <a:xfrm>
            <a:off x="581025" y="4740771"/>
            <a:ext cx="3517850" cy="872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Будує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SVO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октодерево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Класифікує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прохідні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вокселі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за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кутом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нахилу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кліренсом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72" name="Google Shape;172;p19"/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Архітектура Системи</a:t>
            </a:r>
            <a:endParaRPr/>
          </a:p>
        </p:txBody>
      </p:sp>
      <p:sp>
        <p:nvSpPr>
          <p:cNvPr id="173" name="Google Shape;173;p19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63;p19">
            <a:extLst>
              <a:ext uri="{FF2B5EF4-FFF2-40B4-BE49-F238E27FC236}">
                <a16:creationId xmlns:a16="http://schemas.microsoft.com/office/drawing/2014/main" id="{EDE43495-BE6A-4E5A-D3BC-D1371B2D1E1B}"/>
              </a:ext>
            </a:extLst>
          </p:cNvPr>
          <p:cNvSpPr txBox="1"/>
          <p:nvPr/>
        </p:nvSpPr>
        <p:spPr>
          <a:xfrm>
            <a:off x="4337000" y="4293096"/>
            <a:ext cx="3693742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1404" b="1" dirty="0" err="1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NavGraph</a:t>
            </a:r>
            <a:endParaRPr lang="en-US" sz="1600" dirty="0"/>
          </a:p>
        </p:txBody>
      </p:sp>
      <p:sp>
        <p:nvSpPr>
          <p:cNvPr id="3" name="Google Shape;164;p19">
            <a:extLst>
              <a:ext uri="{FF2B5EF4-FFF2-40B4-BE49-F238E27FC236}">
                <a16:creationId xmlns:a16="http://schemas.microsoft.com/office/drawing/2014/main" id="{2AE55BD0-AC47-AA03-FBF8-44A9A3B0B474}"/>
              </a:ext>
            </a:extLst>
          </p:cNvPr>
          <p:cNvSpPr txBox="1"/>
          <p:nvPr/>
        </p:nvSpPr>
        <p:spPr>
          <a:xfrm>
            <a:off x="4337000" y="4740771"/>
            <a:ext cx="3517850" cy="872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25"/>
              </a:lnSpc>
            </a:pPr>
            <a:r>
              <a:rPr lang="uk-UA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Генерує типи </a:t>
            </a:r>
            <a:r>
              <a:rPr lang="uk-UA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ребер</a:t>
            </a:r>
            <a:r>
              <a:rPr lang="uk-UA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Walk, Jump, Fall. </a:t>
            </a:r>
            <a:r>
              <a:rPr lang="uk-UA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Виконує балістичну перевірку траєкторій.</a:t>
            </a:r>
            <a:endParaRPr lang="uk-UA" sz="1200" dirty="0"/>
          </a:p>
        </p:txBody>
      </p:sp>
      <p:sp>
        <p:nvSpPr>
          <p:cNvPr id="4" name="Google Shape;163;p19">
            <a:extLst>
              <a:ext uri="{FF2B5EF4-FFF2-40B4-BE49-F238E27FC236}">
                <a16:creationId xmlns:a16="http://schemas.microsoft.com/office/drawing/2014/main" id="{F8915E1F-1893-4C1B-E879-14256E82BDD8}"/>
              </a:ext>
            </a:extLst>
          </p:cNvPr>
          <p:cNvSpPr txBox="1"/>
          <p:nvPr/>
        </p:nvSpPr>
        <p:spPr>
          <a:xfrm>
            <a:off x="8092975" y="4293096"/>
            <a:ext cx="3693742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1404" b="1" dirty="0" err="1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KinodynamicAStar</a:t>
            </a:r>
            <a:endParaRPr lang="en-US" sz="1600" dirty="0"/>
          </a:p>
        </p:txBody>
      </p:sp>
      <p:sp>
        <p:nvSpPr>
          <p:cNvPr id="5" name="Google Shape;164;p19">
            <a:extLst>
              <a:ext uri="{FF2B5EF4-FFF2-40B4-BE49-F238E27FC236}">
                <a16:creationId xmlns:a16="http://schemas.microsoft.com/office/drawing/2014/main" id="{ABDF4589-B7AA-9962-99DF-903691EF1D56}"/>
              </a:ext>
            </a:extLst>
          </p:cNvPr>
          <p:cNvSpPr txBox="1"/>
          <p:nvPr/>
        </p:nvSpPr>
        <p:spPr>
          <a:xfrm>
            <a:off x="8092975" y="4740771"/>
            <a:ext cx="3517850" cy="872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25"/>
              </a:lnSpc>
            </a:pPr>
            <a:r>
              <a:rPr lang="uk-UA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Пошук з евристикою, що враховує небезпеку та страх падіння (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edgeProximity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B733D1-2FD2-68CA-53C1-2D0404213B2E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81025" y="1786344"/>
            <a:ext cx="3060000" cy="1800000"/>
          </a:xfrm>
          <a:prstGeom prst="round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DB217B-EAC7-3A76-6E33-93235D21A175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092975" y="1786344"/>
            <a:ext cx="3060000" cy="1800000"/>
          </a:xfrm>
          <a:prstGeom prst="round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D897B90-87BC-E6D7-C566-D8C5E134C1B6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4337000" y="1786344"/>
            <a:ext cx="3060000" cy="1800000"/>
          </a:xfrm>
          <a:prstGeom prst="roundRect">
            <a:avLst/>
          </a:prstGeom>
        </p:spPr>
      </p:pic>
      <p:sp>
        <p:nvSpPr>
          <p:cNvPr id="12" name="Google Shape;109;p15">
            <a:extLst>
              <a:ext uri="{FF2B5EF4-FFF2-40B4-BE49-F238E27FC236}">
                <a16:creationId xmlns:a16="http://schemas.microsoft.com/office/drawing/2014/main" id="{DDE438B9-27C5-7D87-6121-8C9121143AE0}"/>
              </a:ext>
            </a:extLst>
          </p:cNvPr>
          <p:cNvSpPr txBox="1"/>
          <p:nvPr/>
        </p:nvSpPr>
        <p:spPr>
          <a:xfrm>
            <a:off x="11390654" y="581025"/>
            <a:ext cx="14370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6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0"/>
          <p:cNvSpPr txBox="1"/>
          <p:nvPr/>
        </p:nvSpPr>
        <p:spPr>
          <a:xfrm>
            <a:off x="6286500" y="2858690"/>
            <a:ext cx="559069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Unity 2022 LTS &amp; NVIDIA PhysX</a:t>
            </a:r>
            <a:endParaRPr dirty="0"/>
          </a:p>
        </p:txBody>
      </p:sp>
      <p:sp>
        <p:nvSpPr>
          <p:cNvPr id="182" name="Google Shape;182;p20"/>
          <p:cNvSpPr txBox="1"/>
          <p:nvPr/>
        </p:nvSpPr>
        <p:spPr>
          <a:xfrm>
            <a:off x="6619875" y="3287315"/>
            <a:ext cx="4991100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Розроблено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15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скриптів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C#.</a:t>
            </a:r>
            <a:endParaRPr dirty="0"/>
          </a:p>
        </p:txBody>
      </p:sp>
      <p:sp>
        <p:nvSpPr>
          <p:cNvPr id="183" name="Google Shape;183;p20"/>
          <p:cNvSpPr txBox="1"/>
          <p:nvPr/>
        </p:nvSpPr>
        <p:spPr>
          <a:xfrm>
            <a:off x="6619875" y="3670101"/>
            <a:ext cx="4991100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Використано</a:t>
            </a:r>
            <a:r>
              <a:rPr lang="uk-UA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запити фізики до рушія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NVIDIA PhysX</a:t>
            </a:r>
            <a:endParaRPr dirty="0"/>
          </a:p>
        </p:txBody>
      </p:sp>
      <p:sp>
        <p:nvSpPr>
          <p:cNvPr id="184" name="Google Shape;184;p20"/>
          <p:cNvSpPr txBox="1"/>
          <p:nvPr/>
        </p:nvSpPr>
        <p:spPr>
          <a:xfrm>
            <a:off x="6619875" y="4052887"/>
            <a:ext cx="4991100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Реалізовано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Landing Assist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для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корекції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85" name="Google Shape;185;p20"/>
          <p:cNvSpPr txBox="1"/>
          <p:nvPr/>
        </p:nvSpPr>
        <p:spPr>
          <a:xfrm>
            <a:off x="6619875" y="4435673"/>
            <a:ext cx="4991100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Створено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бенчмарки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pic>
        <p:nvPicPr>
          <p:cNvPr id="186" name="Google Shape;186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330178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3712964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6500" y="409575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86500" y="4478535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Програмна Реалізація</a:t>
            </a:r>
            <a:endParaRPr/>
          </a:p>
        </p:txBody>
      </p:sp>
      <p:sp>
        <p:nvSpPr>
          <p:cNvPr id="191" name="Google Shape;191;p20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 descr="Unity logo 3D mesh - Download Free 3D model by AntonioModer (@AntonioModer)  [2afd04b]">
            <a:extLst>
              <a:ext uri="{FF2B5EF4-FFF2-40B4-BE49-F238E27FC236}">
                <a16:creationId xmlns:a16="http://schemas.microsoft.com/office/drawing/2014/main" id="{42A24423-49FD-9921-B11D-9B26E221A3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64" r="19971"/>
          <a:stretch>
            <a:fillRect/>
          </a:stretch>
        </p:blipFill>
        <p:spPr bwMode="auto">
          <a:xfrm>
            <a:off x="989889" y="2423517"/>
            <a:ext cx="3364173" cy="313491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9;p15">
            <a:extLst>
              <a:ext uri="{FF2B5EF4-FFF2-40B4-BE49-F238E27FC236}">
                <a16:creationId xmlns:a16="http://schemas.microsoft.com/office/drawing/2014/main" id="{BF04E941-FC45-1E6B-1D3C-0E4CCEBBD52D}"/>
              </a:ext>
            </a:extLst>
          </p:cNvPr>
          <p:cNvSpPr txBox="1"/>
          <p:nvPr/>
        </p:nvSpPr>
        <p:spPr>
          <a:xfrm>
            <a:off x="11390654" y="581025"/>
            <a:ext cx="14370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7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1"/>
          <p:cNvSpPr txBox="1"/>
          <p:nvPr/>
        </p:nvSpPr>
        <p:spPr>
          <a:xfrm>
            <a:off x="581025" y="4413051"/>
            <a:ext cx="369374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TestLevel_Simple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581025" y="4860726"/>
            <a:ext cx="351785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Горизонтальні платформи та лавові зони. Перевірка ребер стрибків.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4337000" y="4413051"/>
            <a:ext cx="369374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TestLevel_Medium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4337000" y="4860726"/>
            <a:ext cx="351785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Похилі поверхні та обмеження висоти стрибка стелею.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8092975" y="4413051"/>
            <a:ext cx="369374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Poppins"/>
                <a:ea typeface="Poppins"/>
                <a:cs typeface="Poppins"/>
                <a:sym typeface="Poppins"/>
              </a:rPr>
              <a:t>TestLevel_Complex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8092975" y="4860726"/>
            <a:ext cx="351785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Вертикальна 3-поверхова структура з тунелями та прірвами.</a:t>
            </a:r>
            <a:endParaRPr/>
          </a:p>
        </p:txBody>
      </p:sp>
      <p:sp>
        <p:nvSpPr>
          <p:cNvPr id="209" name="Google Shape;209;p21"/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Тестові Сцени та Бенчмарк</a:t>
            </a:r>
            <a:endParaRPr/>
          </a:p>
        </p:txBody>
      </p:sp>
      <p:sp>
        <p:nvSpPr>
          <p:cNvPr id="210" name="Google Shape;210;p21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EA0831-E056-C87A-0B2E-8751BA210FD0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274767" y="1912338"/>
            <a:ext cx="3600000" cy="2160000"/>
          </a:xfrm>
          <a:prstGeom prst="round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BECCA07-4CC8-9448-6677-625AF97ABFFB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030742" y="1912338"/>
            <a:ext cx="3600000" cy="2160000"/>
          </a:xfrm>
          <a:prstGeom prst="round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2FE1B7A-2523-7078-336C-DA838128F951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18792" y="1912338"/>
            <a:ext cx="3600000" cy="2160000"/>
          </a:xfrm>
          <a:prstGeom prst="roundRect">
            <a:avLst/>
          </a:prstGeom>
        </p:spPr>
      </p:pic>
      <p:sp>
        <p:nvSpPr>
          <p:cNvPr id="5" name="Google Shape;109;p15">
            <a:extLst>
              <a:ext uri="{FF2B5EF4-FFF2-40B4-BE49-F238E27FC236}">
                <a16:creationId xmlns:a16="http://schemas.microsoft.com/office/drawing/2014/main" id="{EE90483C-8A1D-9E50-9D7E-29318F7ADCD4}"/>
              </a:ext>
            </a:extLst>
          </p:cNvPr>
          <p:cNvSpPr txBox="1"/>
          <p:nvPr/>
        </p:nvSpPr>
        <p:spPr>
          <a:xfrm>
            <a:off x="11390654" y="581025"/>
            <a:ext cx="14370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8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/>
          <p:cNvSpPr/>
          <p:nvPr/>
        </p:nvSpPr>
        <p:spPr>
          <a:xfrm>
            <a:off x="581025" y="2510135"/>
            <a:ext cx="11029950" cy="266640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7" name="Google Shape;217;p22"/>
          <p:cNvGraphicFramePr/>
          <p:nvPr>
            <p:extLst>
              <p:ext uri="{D42A27DB-BD31-4B8C-83A1-F6EECF244321}">
                <p14:modId xmlns:p14="http://schemas.microsoft.com/office/powerpoint/2010/main" val="2117532769"/>
              </p:ext>
            </p:extLst>
          </p:nvPr>
        </p:nvGraphicFramePr>
        <p:xfrm>
          <a:off x="581025" y="2510135"/>
          <a:ext cx="11029925" cy="2666375"/>
        </p:xfrm>
        <a:graphic>
          <a:graphicData uri="http://schemas.openxmlformats.org/drawingml/2006/table">
            <a:tbl>
              <a:tblPr firstRow="1" bandRow="1">
                <a:noFill/>
                <a:effectLst/>
                <a:tableStyleId>{116165C6-2B43-4A2D-B87F-E65BA97FB147}</a:tableStyleId>
              </a:tblPr>
              <a:tblGrid>
                <a:gridCol w="4024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4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1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Метрика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Voxel + A*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NavMesh (+Links)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RRT*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Успішність</a:t>
                      </a: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знаходження</a:t>
                      </a: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(%)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rgbClr val="10B98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100%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94% - 100%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18% - 35%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Час</a:t>
                      </a: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пошуку</a:t>
                      </a: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</a:t>
                      </a: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мс</a:t>
                      </a: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2.16 - 54.19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60A5F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0.01 (</a:t>
                      </a:r>
                      <a:r>
                        <a:rPr lang="uk-UA" sz="1350" b="0" i="0" u="none" strike="noStrike" cap="none" dirty="0">
                          <a:solidFill>
                            <a:srgbClr val="60A5F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постійне</a:t>
                      </a:r>
                      <a:r>
                        <a:rPr lang="en-US" sz="1350" b="0" i="0" u="none" strike="noStrike" cap="none" dirty="0">
                          <a:solidFill>
                            <a:srgbClr val="60A5F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16.49 - 894.1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Ручне налаштування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10B98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Відсутнє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5 - 15 </a:t>
                      </a: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хв</a:t>
                      </a: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рівень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Відсутнє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Вартість</a:t>
                      </a: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</a:t>
                      </a:r>
                      <a:r>
                        <a:rPr lang="en-US" sz="1350" b="0" i="0" u="none" strike="noStrike" cap="none" dirty="0" err="1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Безпека</a:t>
                      </a: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10B98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50.7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64.3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N/A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4" name="Google Shape;234;p22"/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Порівняльні Результати</a:t>
            </a:r>
            <a:endParaRPr/>
          </a:p>
        </p:txBody>
      </p:sp>
      <p:sp>
        <p:nvSpPr>
          <p:cNvPr id="235" name="Google Shape;235;p22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9;p15">
            <a:extLst>
              <a:ext uri="{FF2B5EF4-FFF2-40B4-BE49-F238E27FC236}">
                <a16:creationId xmlns:a16="http://schemas.microsoft.com/office/drawing/2014/main" id="{60A44FAC-7D6F-B825-27DD-BAF2A16327ED}"/>
              </a:ext>
            </a:extLst>
          </p:cNvPr>
          <p:cNvSpPr txBox="1"/>
          <p:nvPr/>
        </p:nvSpPr>
        <p:spPr>
          <a:xfrm>
            <a:off x="11390654" y="581025"/>
            <a:ext cx="14370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9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4">
          <a:extLst>
            <a:ext uri="{FF2B5EF4-FFF2-40B4-BE49-F238E27FC236}">
              <a16:creationId xmlns:a16="http://schemas.microsoft.com/office/drawing/2014/main" id="{CEC839B2-3270-37ED-B5C1-B6F5D43D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22" descr="image.png">
            <a:extLst>
              <a:ext uri="{FF2B5EF4-FFF2-40B4-BE49-F238E27FC236}">
                <a16:creationId xmlns:a16="http://schemas.microsoft.com/office/drawing/2014/main" id="{029B4504-9291-6B15-B4E9-94AA696B19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2">
            <a:extLst>
              <a:ext uri="{FF2B5EF4-FFF2-40B4-BE49-F238E27FC236}">
                <a16:creationId xmlns:a16="http://schemas.microsoft.com/office/drawing/2014/main" id="{49E203B0-AC93-52E2-97CA-FA19E88C7E9B}"/>
              </a:ext>
            </a:extLst>
          </p:cNvPr>
          <p:cNvSpPr txBox="1"/>
          <p:nvPr/>
        </p:nvSpPr>
        <p:spPr>
          <a:xfrm>
            <a:off x="771525" y="581025"/>
            <a:ext cx="11381422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Порівняльні Результати</a:t>
            </a:r>
            <a:endParaRPr/>
          </a:p>
        </p:txBody>
      </p:sp>
      <p:sp>
        <p:nvSpPr>
          <p:cNvPr id="235" name="Google Shape;235;p22">
            <a:extLst>
              <a:ext uri="{FF2B5EF4-FFF2-40B4-BE49-F238E27FC236}">
                <a16:creationId xmlns:a16="http://schemas.microsoft.com/office/drawing/2014/main" id="{1564EE92-F6CE-48A4-4EC5-56303EC51276}"/>
              </a:ext>
            </a:extLst>
          </p:cNvPr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9;p15">
            <a:extLst>
              <a:ext uri="{FF2B5EF4-FFF2-40B4-BE49-F238E27FC236}">
                <a16:creationId xmlns:a16="http://schemas.microsoft.com/office/drawing/2014/main" id="{0C6B66B9-C9E5-DA51-89D0-57FD19D08CC6}"/>
              </a:ext>
            </a:extLst>
          </p:cNvPr>
          <p:cNvSpPr txBox="1"/>
          <p:nvPr/>
        </p:nvSpPr>
        <p:spPr>
          <a:xfrm>
            <a:off x="11257722" y="581025"/>
            <a:ext cx="27663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10</a:t>
            </a:r>
            <a:endParaRPr sz="2000" dirty="0">
              <a:solidFill>
                <a:schemeClr val="bg1"/>
              </a:solidFill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EFE8653C-6C2C-7797-5129-C84B0DF966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8471270"/>
              </p:ext>
            </p:extLst>
          </p:nvPr>
        </p:nvGraphicFramePr>
        <p:xfrm>
          <a:off x="2357623" y="1556243"/>
          <a:ext cx="7476753" cy="47207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561452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3"/>
          <p:cNvSpPr txBox="1"/>
          <p:nvPr/>
        </p:nvSpPr>
        <p:spPr>
          <a:xfrm>
            <a:off x="771525" y="581025"/>
            <a:ext cx="4990623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1F5F9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Апробація та Публікації</a:t>
            </a:r>
            <a:endParaRPr/>
          </a:p>
        </p:txBody>
      </p:sp>
      <p:sp>
        <p:nvSpPr>
          <p:cNvPr id="242" name="Google Shape;242;p23"/>
          <p:cNvSpPr/>
          <p:nvPr/>
        </p:nvSpPr>
        <p:spPr>
          <a:xfrm>
            <a:off x="581025" y="581025"/>
            <a:ext cx="47625" cy="5429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 txBox="1"/>
          <p:nvPr/>
        </p:nvSpPr>
        <p:spPr>
          <a:xfrm>
            <a:off x="914400" y="1847850"/>
            <a:ext cx="46101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Тези доповіді опубліковано на 4-й Міжнародній конференції (Рига, Латвія, 2026).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914400" y="2669383"/>
            <a:ext cx="4610100" cy="581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Тема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: "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Особливості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навігації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у 3D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просторі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в </a:t>
            </a:r>
            <a:r>
              <a:rPr lang="uk-UA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грі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жанру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платформер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".</a:t>
            </a:r>
            <a:endParaRPr dirty="0"/>
          </a:p>
        </p:txBody>
      </p:sp>
      <p:pic>
        <p:nvPicPr>
          <p:cNvPr id="247" name="Google Shape;24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89071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712246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BB3D091-4D77-0F76-7831-6C7A0E2C976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079" y="3490916"/>
            <a:ext cx="3749267" cy="2649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39AB75-7161-6F55-77C2-E0561E6AAE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7540" y="2522761"/>
            <a:ext cx="4838700" cy="361792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09;p15">
            <a:extLst>
              <a:ext uri="{FF2B5EF4-FFF2-40B4-BE49-F238E27FC236}">
                <a16:creationId xmlns:a16="http://schemas.microsoft.com/office/drawing/2014/main" id="{622E0BA1-CF41-FC83-AF38-7A1236BD5CD1}"/>
              </a:ext>
            </a:extLst>
          </p:cNvPr>
          <p:cNvSpPr txBox="1"/>
          <p:nvPr/>
        </p:nvSpPr>
        <p:spPr>
          <a:xfrm>
            <a:off x="11266227" y="581025"/>
            <a:ext cx="268131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1</a:t>
            </a:r>
            <a:r>
              <a:rPr lang="en-US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1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4"/>
          <p:cNvSpPr txBox="1"/>
          <p:nvPr/>
        </p:nvSpPr>
        <p:spPr>
          <a:xfrm>
            <a:off x="2095500" y="1611808"/>
            <a:ext cx="8001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 err="1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Підсумки</a:t>
            </a:r>
            <a:endParaRPr dirty="0"/>
          </a:p>
        </p:txBody>
      </p:sp>
      <p:sp>
        <p:nvSpPr>
          <p:cNvPr id="256" name="Google Shape;256;p24"/>
          <p:cNvSpPr txBox="1"/>
          <p:nvPr/>
        </p:nvSpPr>
        <p:spPr>
          <a:xfrm>
            <a:off x="2286000" y="2754808"/>
            <a:ext cx="7620000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Метод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SVO+A*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забезпечує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100%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успішності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без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ручного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втручання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формує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безпечніші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маршрути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та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працює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в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реальному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часі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Пе</a:t>
            </a:r>
            <a:r>
              <a:rPr lang="uk-UA" sz="18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рспективи розвитку: </a:t>
            </a:r>
            <a:r>
              <a:rPr lang="uk-UA" sz="18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інкрементальне</a:t>
            </a:r>
            <a:r>
              <a:rPr lang="uk-UA" sz="18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оновлення графа для рухомих платформ, підтримка додаткового набору рухів</a:t>
            </a:r>
            <a:endParaRPr lang="en-US" sz="180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4"/>
          <p:cNvSpPr txBox="1"/>
          <p:nvPr/>
        </p:nvSpPr>
        <p:spPr>
          <a:xfrm>
            <a:off x="2286000" y="5289012"/>
            <a:ext cx="7620000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Дякую</a:t>
            </a: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1" i="0" u="none" strike="noStrike" cap="none" dirty="0" err="1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за</a:t>
            </a: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1" i="0" u="none" strike="noStrike" cap="none" dirty="0" err="1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увагу</a:t>
            </a: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!</a:t>
            </a:r>
            <a:endParaRPr dirty="0"/>
          </a:p>
        </p:txBody>
      </p:sp>
      <p:sp>
        <p:nvSpPr>
          <p:cNvPr id="2" name="Google Shape;109;p15">
            <a:extLst>
              <a:ext uri="{FF2B5EF4-FFF2-40B4-BE49-F238E27FC236}">
                <a16:creationId xmlns:a16="http://schemas.microsoft.com/office/drawing/2014/main" id="{3988FCAE-12E2-9EC2-2DE3-2BA43FDDBAC2}"/>
              </a:ext>
            </a:extLst>
          </p:cNvPr>
          <p:cNvSpPr txBox="1"/>
          <p:nvPr/>
        </p:nvSpPr>
        <p:spPr>
          <a:xfrm>
            <a:off x="11266227" y="581025"/>
            <a:ext cx="268131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1</a:t>
            </a:r>
            <a:r>
              <a:rPr lang="en-US" sz="2000" dirty="0">
                <a:solidFill>
                  <a:schemeClr val="bg1"/>
                </a:solidFill>
                <a:latin typeface="Inter"/>
                <a:ea typeface="Inter"/>
                <a:sym typeface="Inter"/>
              </a:rPr>
              <a:t>2</a:t>
            </a:r>
            <a:endParaRPr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498</Words>
  <Application>Microsoft Office PowerPoint</Application>
  <PresentationFormat>Widescreen</PresentationFormat>
  <Paragraphs>87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Inter</vt:lpstr>
      <vt:lpstr>Poppins SemiBold</vt:lpstr>
      <vt:lpstr>Poppins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Александр Правосуд</dc:creator>
  <cp:lastModifiedBy>Sasha</cp:lastModifiedBy>
  <cp:revision>3</cp:revision>
  <dcterms:modified xsi:type="dcterms:W3CDTF">2026-05-17T14:36:35Z</dcterms:modified>
</cp:coreProperties>
</file>