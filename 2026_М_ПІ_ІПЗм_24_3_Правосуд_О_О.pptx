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  <a:srgbClr val="0F172A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6165C6-2B43-4A2D-B87F-E65BA97FB147}">
  <a:tblStyle styleId="{116165C6-2B43-4A2D-B87F-E65BA97FB1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Voxel+A*</c:v>
                </c:pt>
                <c:pt idx="1">
                  <c:v>RRT</c:v>
                </c:pt>
                <c:pt idx="2">
                  <c:v>NavMesh</c:v>
                </c:pt>
                <c:pt idx="3">
                  <c:v>RL</c:v>
                </c:pt>
                <c:pt idx="4">
                  <c:v>LLM + A*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0.76800000000000002</c:v>
                </c:pt>
                <c:pt idx="1">
                  <c:v>0.65900000000000003</c:v>
                </c:pt>
                <c:pt idx="2">
                  <c:v>0.624</c:v>
                </c:pt>
                <c:pt idx="3">
                  <c:v>0.61899999999999999</c:v>
                </c:pt>
                <c:pt idx="4">
                  <c:v>0.36549999999999999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6-441F-BC4B-6775BE8C9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84920319"/>
        <c:axId val="884922719"/>
      </c:barChart>
      <c:catAx>
        <c:axId val="884920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884922719"/>
        <c:crosses val="autoZero"/>
        <c:auto val="1"/>
        <c:lblAlgn val="ctr"/>
        <c:lblOffset val="100"/>
        <c:noMultiLvlLbl val="0"/>
      </c:catAx>
      <c:valAx>
        <c:axId val="8849227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884920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45765187107288"/>
          <c:y val="0.15810132835331467"/>
          <c:w val="0.49908469625785423"/>
          <c:h val="0.79045643768805351"/>
        </c:manualLayout>
      </c:layout>
      <c:radarChart>
        <c:radarStyle val="marker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Voxel + A*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Sheet1!$E$2:$E$6</c:f>
              <c:strCache>
                <c:ptCount val="5"/>
                <c:pt idx="0">
                  <c:v>Швидкість пошуку</c:v>
                </c:pt>
                <c:pt idx="1">
                  <c:v>Частка знайдених шляхів</c:v>
                </c:pt>
                <c:pt idx="2">
                  <c:v>Короткість шляху</c:v>
                </c:pt>
                <c:pt idx="3">
                  <c:v>Безпека знайдених шляхів</c:v>
                </c:pt>
                <c:pt idx="4">
                  <c:v>Ефективність ОЗП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0.97772061290683365</c:v>
                </c:pt>
                <c:pt idx="1">
                  <c:v>1</c:v>
                </c:pt>
                <c:pt idx="2">
                  <c:v>0.52400835073068897</c:v>
                </c:pt>
                <c:pt idx="3">
                  <c:v>0.39324618736383443</c:v>
                </c:pt>
                <c:pt idx="4">
                  <c:v>0.98463779570938104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71-4889-825F-6BB3B1512EDD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NavMesh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Sheet1!$E$2:$E$6</c:f>
              <c:strCache>
                <c:ptCount val="5"/>
                <c:pt idx="0">
                  <c:v>Швидкість пошуку</c:v>
                </c:pt>
                <c:pt idx="1">
                  <c:v>Частка знайдених шляхів</c:v>
                </c:pt>
                <c:pt idx="2">
                  <c:v>Короткість шляху</c:v>
                </c:pt>
                <c:pt idx="3">
                  <c:v>Безпека знайдених шляхів</c:v>
                </c:pt>
                <c:pt idx="4">
                  <c:v>Ефективність ОЗП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</c:v>
                </c:pt>
                <c:pt idx="1">
                  <c:v>0.97154471544715437</c:v>
                </c:pt>
                <c:pt idx="2">
                  <c:v>0.40443052655996281</c:v>
                </c:pt>
                <c:pt idx="3">
                  <c:v>0.2222222222222221</c:v>
                </c:pt>
                <c:pt idx="4">
                  <c:v>0.99994608076110159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71-4889-825F-6BB3B1512EDD}"/>
            </c:ext>
          </c:extLst>
        </c:ser>
        <c:ser>
          <c:idx val="2"/>
          <c:order val="2"/>
          <c:tx>
            <c:strRef>
              <c:f>Sheet1!$H$1</c:f>
              <c:strCache>
                <c:ptCount val="1"/>
                <c:pt idx="0">
                  <c:v>RRT*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Sheet1!$E$2:$E$6</c:f>
              <c:strCache>
                <c:ptCount val="5"/>
                <c:pt idx="0">
                  <c:v>Швидкість пошуку</c:v>
                </c:pt>
                <c:pt idx="1">
                  <c:v>Частка знайдених шляхів</c:v>
                </c:pt>
                <c:pt idx="2">
                  <c:v>Короткість шляху</c:v>
                </c:pt>
                <c:pt idx="3">
                  <c:v>Безпека знайдених шляхів</c:v>
                </c:pt>
                <c:pt idx="4">
                  <c:v>Ефективність ОЗП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0.64718711553517505</c:v>
                </c:pt>
                <c:pt idx="1">
                  <c:v>9.7560975609756115E-2</c:v>
                </c:pt>
                <c:pt idx="2">
                  <c:v>0.97865924379494318</c:v>
                </c:pt>
                <c:pt idx="3">
                  <c:v>0.97603485838779958</c:v>
                </c:pt>
                <c:pt idx="4">
                  <c:v>0.6536027023096278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71-4889-825F-6BB3B1512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1193663"/>
        <c:axId val="1731190303"/>
      </c:radarChart>
      <c:catAx>
        <c:axId val="1731193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731190303"/>
        <c:crosses val="autoZero"/>
        <c:auto val="1"/>
        <c:lblAlgn val="ctr"/>
        <c:lblOffset val="100"/>
        <c:noMultiLvlLbl val="0"/>
      </c:catAx>
      <c:valAx>
        <c:axId val="173119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731193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F172A"/>
    </a:soli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1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/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uk-UA" dirty="0"/>
              <a:t>Шановна екзаменаційна комісія, дозвольте представити результати магістерської кваліфікаційної роботи на тему «Дослідження методів генерації безпечного шляху у 3</a:t>
            </a:r>
            <a:r>
              <a:rPr lang="en-GB" dirty="0"/>
              <a:t>D </a:t>
            </a:r>
            <a:r>
              <a:rPr lang="uk-UA" dirty="0"/>
              <a:t>просторі для </a:t>
            </a:r>
            <a:r>
              <a:rPr lang="en-GB" dirty="0"/>
              <a:t>NPC </a:t>
            </a:r>
            <a:r>
              <a:rPr lang="uk-UA" dirty="0"/>
              <a:t>у грі жанру </a:t>
            </a:r>
            <a:r>
              <a:rPr lang="uk-UA" dirty="0" err="1"/>
              <a:t>платформер</a:t>
            </a:r>
            <a:r>
              <a:rPr lang="uk-UA" dirty="0"/>
              <a:t>». Науковий керівник — доцент кафедри програмної  інженерії Наталя Сергіївна Кравець.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533138A0-6A59-EBDD-AAE1-4CE0F932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>
            <a:extLst>
              <a:ext uri="{FF2B5EF4-FFF2-40B4-BE49-F238E27FC236}">
                <a16:creationId xmlns:a16="http://schemas.microsoft.com/office/drawing/2014/main" id="{6754C75E-D2D7-0BE3-409B-2ADACED29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>
            <a:extLst>
              <a:ext uri="{FF2B5EF4-FFF2-40B4-BE49-F238E27FC236}">
                <a16:creationId xmlns:a16="http://schemas.microsoft.com/office/drawing/2014/main" id="{EEA7682E-A0BF-137D-D2CD-07D69F0F4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508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668017"/>
            <a:ext cx="8572500" cy="152176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515665"/>
            <a:ext cx="9001125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Дослідження</a:t>
            </a:r>
            <a:r>
              <a:rPr lang="en-US" sz="405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5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генерації</a:t>
            </a:r>
            <a:r>
              <a:rPr lang="en-US" sz="405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5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безпечного</a:t>
            </a:r>
            <a:r>
              <a:rPr lang="en-US" sz="405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5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шляху</a:t>
            </a:r>
            <a:r>
              <a:rPr lang="en-US" sz="405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NPC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2913757"/>
            <a:ext cx="85725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 3D просторі для ігор жанру платформер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134742"/>
            <a:ext cx="85725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Правосуд Олександр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Олександрович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ІПЗм-24-3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546103"/>
            <a:ext cx="85725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Науковий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керівник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к.т.н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., доцент,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доц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uk-UA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каф. ПІ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Кравець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Наталя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Сергіївна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4976514"/>
            <a:ext cx="8572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Харківський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національний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університет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радіоелектроніки</a:t>
            </a:r>
            <a:endParaRPr lang="uk-UA" sz="120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22 травня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6788"/>
            <a:ext cx="3465820" cy="2790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7143" y="2286788"/>
            <a:ext cx="3403410" cy="27918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76300" y="2595474"/>
            <a:ext cx="49706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Специфіка</a:t>
            </a: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Платформерів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876301" y="3100299"/>
            <a:ext cx="2910954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відміну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RTS,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агент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у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платформері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повинен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долати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розриви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геометрії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з</a:t>
            </a:r>
            <a:r>
              <a:rPr lang="uk-UA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 допомогою стрибків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8282417" y="2595474"/>
            <a:ext cx="49706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Мета</a:t>
            </a:r>
            <a:r>
              <a:rPr lang="en-US" sz="1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Дослідження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8282417" y="3100299"/>
            <a:ext cx="3033073" cy="174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Розробка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методу та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програмна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реалізація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системи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генерації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безпечного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маршруту,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що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враховує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вертикальну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топологію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сцени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та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кінематичні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обмеження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фізики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стрибка</a:t>
            </a:r>
            <a:endParaRPr sz="1350" dirty="0">
              <a:solidFill>
                <a:srgbClr val="CBD5E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Проблема Навігації в 3D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03F6528C-A156-8826-650A-844585D5FD56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2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3" name="Google Shape;104;p15" descr="image.png">
            <a:extLst>
              <a:ext uri="{FF2B5EF4-FFF2-40B4-BE49-F238E27FC236}">
                <a16:creationId xmlns:a16="http://schemas.microsoft.com/office/drawing/2014/main" id="{C52C3113-498B-EC07-F1C6-3BF2BE170B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1733" y="2286788"/>
            <a:ext cx="3465820" cy="279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6;p15">
            <a:extLst>
              <a:ext uri="{FF2B5EF4-FFF2-40B4-BE49-F238E27FC236}">
                <a16:creationId xmlns:a16="http://schemas.microsoft.com/office/drawing/2014/main" id="{FE0A6D85-29E8-33DD-992E-C02CC8331BFD}"/>
              </a:ext>
            </a:extLst>
          </p:cNvPr>
          <p:cNvSpPr txBox="1"/>
          <p:nvPr/>
        </p:nvSpPr>
        <p:spPr>
          <a:xfrm>
            <a:off x="4557008" y="2595474"/>
            <a:ext cx="49706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1" dirty="0">
                <a:solidFill>
                  <a:srgbClr val="3B82F6"/>
                </a:solidFill>
                <a:cs typeface="Poppins"/>
                <a:sym typeface="Poppins"/>
              </a:rPr>
              <a:t>Об’єкт дослідження</a:t>
            </a:r>
            <a:endParaRPr dirty="0"/>
          </a:p>
        </p:txBody>
      </p:sp>
      <p:sp>
        <p:nvSpPr>
          <p:cNvPr id="5" name="Google Shape;107;p15">
            <a:extLst>
              <a:ext uri="{FF2B5EF4-FFF2-40B4-BE49-F238E27FC236}">
                <a16:creationId xmlns:a16="http://schemas.microsoft.com/office/drawing/2014/main" id="{302685E8-0DDF-602A-1392-5BEBFFBB6508}"/>
              </a:ext>
            </a:extLst>
          </p:cNvPr>
          <p:cNvSpPr txBox="1"/>
          <p:nvPr/>
        </p:nvSpPr>
        <p:spPr>
          <a:xfrm>
            <a:off x="4557009" y="3100299"/>
            <a:ext cx="2910954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uk-UA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П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роцес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автоматизованого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планування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руху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неігрових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персонажів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у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дискретних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тривимірних</a:t>
            </a:r>
            <a:r>
              <a:rPr lang="ru-RU" sz="1350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ru-RU" sz="1350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</a:rPr>
              <a:t>середовищах</a:t>
            </a:r>
            <a:endParaRPr sz="1350" dirty="0">
              <a:solidFill>
                <a:srgbClr val="CBD5E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56829"/>
            <a:ext cx="3517850" cy="317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256829"/>
            <a:ext cx="3517850" cy="317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2256829"/>
            <a:ext cx="3517850" cy="317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28675" y="3114079"/>
            <a:ext cx="31736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Представлення Простору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28675" y="3571279"/>
            <a:ext cx="3022550" cy="174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Аналіз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NavMesh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підтвердив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нездатність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автоматично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обробляти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вертикальну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геометрію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Розріджені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воксельні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октодерева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визначені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як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оптимальна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структура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4584650" y="3114079"/>
            <a:ext cx="31736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Алгоритми Пошуку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84650" y="3571279"/>
            <a:ext cx="3022550" cy="119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Класичний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A*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враховує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інерцію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Використання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iDb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-A*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дозволяє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розширити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простір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станів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включивши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вектор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швидкості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фізичної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досяжності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8340625" y="3114079"/>
            <a:ext cx="31736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Машинне Навчання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340625" y="3571279"/>
            <a:ext cx="3022550" cy="119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Нейромережеві агенти на Obstacle Tower погано узагальнюються на нові рівні. Це обґрунтовує вибір детермінованого кінодинамічного підходу.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5425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4650" y="25425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40625" y="254257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Аналіз</a:t>
            </a:r>
            <a:r>
              <a:rPr lang="en-US" sz="2850" b="1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850" b="1" i="0" u="none" strike="noStrike" cap="none" dirty="0" err="1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Наукових</a:t>
            </a:r>
            <a:r>
              <a:rPr lang="en-US" sz="2850" b="1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850" b="1" i="0" u="none" strike="noStrike" cap="none" dirty="0" err="1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Джерел</a:t>
            </a:r>
            <a:endParaRPr dirty="0"/>
          </a:p>
        </p:txBody>
      </p:sp>
      <p:sp>
        <p:nvSpPr>
          <p:cNvPr id="130" name="Google Shape;130;p16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3FDBA62B-222D-6009-21B0-DFA8A23DFDB6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3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47976"/>
            <a:ext cx="11029950" cy="104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81050" y="4571851"/>
            <a:ext cx="10629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Мінімізація цільової функції вартості маршруту з урахуванням фактору безпеки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914400" y="2747218"/>
            <a:ext cx="10696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Безпека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Траєкторія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повинна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перетинати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перешкоди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небезпечні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зони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914400" y="3130004"/>
            <a:ext cx="10696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Кінематика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Сила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стрибка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вектор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швидкості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обмежені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фізичними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характеристиками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агента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914400" y="3512790"/>
            <a:ext cx="10696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Валідність: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Кут нахилу поверхні приземлення повинен відповідати умовам стабільності.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900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7286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55565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Постановка Задачі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E2BEABEE-93CF-9986-A679-493A5AFEC9A9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4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D3CA8-D1E2-16A9-51A3-4F535F09336D}"/>
              </a:ext>
            </a:extLst>
          </p:cNvPr>
          <p:cNvSpPr txBox="1"/>
          <p:nvPr/>
        </p:nvSpPr>
        <p:spPr>
          <a:xfrm>
            <a:off x="3048000" y="4164163"/>
            <a:ext cx="6096000" cy="361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Критерій оптимальності</a:t>
            </a:r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81025" y="2508051"/>
            <a:ext cx="110299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Багатокритеріальний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аналіз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ваги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безпека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0.35,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адаптивність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0.25,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швидкість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0.20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пам’ять 0.20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581025" y="5302875"/>
            <a:ext cx="110299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Воксельний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A*, RRT* </a:t>
            </a:r>
            <a:r>
              <a:rPr lang="uk-UA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та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NavMesh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обрано</a:t>
            </a:r>
            <a:r>
              <a:rPr lang="en-US" sz="1350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350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 якості алгоритмів для порівняння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Вибір Алгоритмічного Базису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C66A1B50-9E8E-24E4-3210-2B6A707BF11E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5</a:t>
            </a:r>
            <a:endParaRPr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78BAED6-0345-1D6D-05EB-7E45ACF4F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8165081"/>
              </p:ext>
            </p:extLst>
          </p:nvPr>
        </p:nvGraphicFramePr>
        <p:xfrm>
          <a:off x="1085003" y="2867602"/>
          <a:ext cx="7301546" cy="2382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286500" y="2858690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Unity 2022 LTS &amp; NVIDIA PhysX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6619875" y="3287315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Розроблено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15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скриптів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C#.</a:t>
            </a:r>
            <a:endParaRPr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6619875" y="3670101"/>
            <a:ext cx="49911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Використано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запити фізики до рушія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NVIDIA PhysX</a:t>
            </a:r>
            <a:endParaRPr dirty="0"/>
          </a:p>
        </p:txBody>
      </p:sp>
      <p:sp>
        <p:nvSpPr>
          <p:cNvPr id="184" name="Google Shape;184;p20"/>
          <p:cNvSpPr txBox="1"/>
          <p:nvPr/>
        </p:nvSpPr>
        <p:spPr>
          <a:xfrm>
            <a:off x="6619875" y="4052887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Реалізовано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Landing Assist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корекції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6619875" y="4435673"/>
            <a:ext cx="49911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Створено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бенчмарки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330178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712964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0957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47853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Програмна Реалізація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Unity logo 3D mesh - Download Free 3D model by AntonioModer (@AntonioModer)  [2afd04b]">
            <a:extLst>
              <a:ext uri="{FF2B5EF4-FFF2-40B4-BE49-F238E27FC236}">
                <a16:creationId xmlns:a16="http://schemas.microsoft.com/office/drawing/2014/main" id="{42A24423-49FD-9921-B11D-9B26E221A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4" r="19971"/>
          <a:stretch>
            <a:fillRect/>
          </a:stretch>
        </p:blipFill>
        <p:spPr bwMode="auto">
          <a:xfrm>
            <a:off x="989889" y="2423517"/>
            <a:ext cx="3364173" cy="313491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BF04E941-FC45-1E6B-1D3C-0E4CCEBBD52D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6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4293096"/>
            <a:ext cx="36937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SceneVoxelizer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81025" y="4740771"/>
            <a:ext cx="351785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Будує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октодерево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Класифікує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прохідні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вокселі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кутом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нахилу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кліренсом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Архітектура Системи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3;p19">
            <a:extLst>
              <a:ext uri="{FF2B5EF4-FFF2-40B4-BE49-F238E27FC236}">
                <a16:creationId xmlns:a16="http://schemas.microsoft.com/office/drawing/2014/main" id="{EDE43495-BE6A-4E5A-D3BC-D1371B2D1E1B}"/>
              </a:ext>
            </a:extLst>
          </p:cNvPr>
          <p:cNvSpPr txBox="1"/>
          <p:nvPr/>
        </p:nvSpPr>
        <p:spPr>
          <a:xfrm>
            <a:off x="4337000" y="4293096"/>
            <a:ext cx="369374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 err="1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NavGraph</a:t>
            </a:r>
            <a:endParaRPr lang="en-US" sz="1600" dirty="0"/>
          </a:p>
        </p:txBody>
      </p:sp>
      <p:sp>
        <p:nvSpPr>
          <p:cNvPr id="3" name="Google Shape;164;p19">
            <a:extLst>
              <a:ext uri="{FF2B5EF4-FFF2-40B4-BE49-F238E27FC236}">
                <a16:creationId xmlns:a16="http://schemas.microsoft.com/office/drawing/2014/main" id="{2AE55BD0-AC47-AA03-FBF8-44A9A3B0B474}"/>
              </a:ext>
            </a:extLst>
          </p:cNvPr>
          <p:cNvSpPr txBox="1"/>
          <p:nvPr/>
        </p:nvSpPr>
        <p:spPr>
          <a:xfrm>
            <a:off x="4337000" y="4740771"/>
            <a:ext cx="351785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Генерує типи </a:t>
            </a:r>
            <a:r>
              <a:rPr lang="uk-UA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ребер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Walk, Jump, Fall. 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Виконує балістичну перевірку траєкторій.</a:t>
            </a:r>
            <a:endParaRPr lang="uk-UA" sz="1200" dirty="0"/>
          </a:p>
        </p:txBody>
      </p:sp>
      <p:sp>
        <p:nvSpPr>
          <p:cNvPr id="4" name="Google Shape;163;p19">
            <a:extLst>
              <a:ext uri="{FF2B5EF4-FFF2-40B4-BE49-F238E27FC236}">
                <a16:creationId xmlns:a16="http://schemas.microsoft.com/office/drawing/2014/main" id="{F8915E1F-1893-4C1B-E879-14256E82BDD8}"/>
              </a:ext>
            </a:extLst>
          </p:cNvPr>
          <p:cNvSpPr txBox="1"/>
          <p:nvPr/>
        </p:nvSpPr>
        <p:spPr>
          <a:xfrm>
            <a:off x="8092975" y="4293096"/>
            <a:ext cx="369374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 err="1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KinodynamicAStar</a:t>
            </a:r>
            <a:endParaRPr lang="en-US" sz="1600" dirty="0"/>
          </a:p>
        </p:txBody>
      </p:sp>
      <p:sp>
        <p:nvSpPr>
          <p:cNvPr id="5" name="Google Shape;164;p19">
            <a:extLst>
              <a:ext uri="{FF2B5EF4-FFF2-40B4-BE49-F238E27FC236}">
                <a16:creationId xmlns:a16="http://schemas.microsoft.com/office/drawing/2014/main" id="{ABDF4589-B7AA-9962-99DF-903691EF1D56}"/>
              </a:ext>
            </a:extLst>
          </p:cNvPr>
          <p:cNvSpPr txBox="1"/>
          <p:nvPr/>
        </p:nvSpPr>
        <p:spPr>
          <a:xfrm>
            <a:off x="8092975" y="4740771"/>
            <a:ext cx="351785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Пошук з евристикою, що враховує небезпеку та страх падіння (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edgeProximity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733D1-2FD2-68CA-53C1-2D0404213B2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86344"/>
            <a:ext cx="3060000" cy="1800000"/>
          </a:xfrm>
          <a:prstGeom prst="round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B217B-EAC7-3A76-6E33-93235D21A17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1786344"/>
            <a:ext cx="3060000" cy="1800000"/>
          </a:xfrm>
          <a:prstGeom prst="round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897B90-87BC-E6D7-C566-D8C5E134C1B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337000" y="1786344"/>
            <a:ext cx="3060000" cy="1800000"/>
          </a:xfrm>
          <a:prstGeom prst="roundRect">
            <a:avLst/>
          </a:prstGeom>
        </p:spPr>
      </p:pic>
      <p:sp>
        <p:nvSpPr>
          <p:cNvPr id="12" name="Google Shape;109;p15">
            <a:extLst>
              <a:ext uri="{FF2B5EF4-FFF2-40B4-BE49-F238E27FC236}">
                <a16:creationId xmlns:a16="http://schemas.microsoft.com/office/drawing/2014/main" id="{DDE438B9-27C5-7D87-6121-8C9121143AE0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7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81025" y="4413051"/>
            <a:ext cx="36937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TestLevel_Simple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81025" y="4860726"/>
            <a:ext cx="3517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Горизонтальні платформи та лавові зони. Перевірка ребер стрибків.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337000" y="4413051"/>
            <a:ext cx="36937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TestLevel_Medium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337000" y="4860726"/>
            <a:ext cx="3517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Похилі поверхні та обмеження висоти стрибка стелею.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092975" y="4413051"/>
            <a:ext cx="36937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TestLevel_Complex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092975" y="4860726"/>
            <a:ext cx="3517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Вертикальна 3-поверхова структура з тунелями та прірвами.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Тестові Сцени та Бенчмарк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EA0831-E056-C87A-0B2E-8751BA210FD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74767" y="1912338"/>
            <a:ext cx="3600000" cy="2160000"/>
          </a:xfrm>
          <a:prstGeom prst="round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ECCA07-4CC8-9448-6677-625AF97ABFF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030742" y="1912338"/>
            <a:ext cx="3600000" cy="2160000"/>
          </a:xfrm>
          <a:prstGeom prst="round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FE1B7A-2523-7078-336C-DA838128F95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18792" y="1912338"/>
            <a:ext cx="3600000" cy="2160000"/>
          </a:xfrm>
          <a:prstGeom prst="roundRect">
            <a:avLst/>
          </a:prstGeom>
        </p:spPr>
      </p:pic>
      <p:sp>
        <p:nvSpPr>
          <p:cNvPr id="5" name="Google Shape;109;p15">
            <a:extLst>
              <a:ext uri="{FF2B5EF4-FFF2-40B4-BE49-F238E27FC236}">
                <a16:creationId xmlns:a16="http://schemas.microsoft.com/office/drawing/2014/main" id="{EE90483C-8A1D-9E50-9D7E-29318F7ADCD4}"/>
              </a:ext>
            </a:extLst>
          </p:cNvPr>
          <p:cNvSpPr txBox="1"/>
          <p:nvPr/>
        </p:nvSpPr>
        <p:spPr>
          <a:xfrm>
            <a:off x="11420474" y="581025"/>
            <a:ext cx="1138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8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581025" y="2510135"/>
            <a:ext cx="11029950" cy="266640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22"/>
          <p:cNvGraphicFramePr/>
          <p:nvPr>
            <p:extLst>
              <p:ext uri="{D42A27DB-BD31-4B8C-83A1-F6EECF244321}">
                <p14:modId xmlns:p14="http://schemas.microsoft.com/office/powerpoint/2010/main" val="2117532769"/>
              </p:ext>
            </p:extLst>
          </p:nvPr>
        </p:nvGraphicFramePr>
        <p:xfrm>
          <a:off x="581025" y="2510135"/>
          <a:ext cx="11029925" cy="2666375"/>
        </p:xfrm>
        <a:graphic>
          <a:graphicData uri="http://schemas.openxmlformats.org/drawingml/2006/table">
            <a:tbl>
              <a:tblPr firstRow="1" bandRow="1">
                <a:noFill/>
                <a:effectLst/>
                <a:tableStyleId>{116165C6-2B43-4A2D-B87F-E65BA97FB147}</a:tableStyleId>
              </a:tblPr>
              <a:tblGrid>
                <a:gridCol w="402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Метрика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Voxel + A*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NavMesh (+Links)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RRT*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Успішність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знаходження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(%)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94% - 100%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18% - 35%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пошуку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мс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2.16 - 54.19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 (</a:t>
                      </a:r>
                      <a:r>
                        <a:rPr lang="uk-UA" sz="1350" b="0" i="0" u="none" strike="noStrike" cap="none" dirty="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постійне</a:t>
                      </a:r>
                      <a:r>
                        <a:rPr lang="en-US" sz="1350" b="0" i="0" u="none" strike="noStrike" cap="none" dirty="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16.49 - 894.1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Ручне налаштування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Відсутнє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5 - 15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хв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рівень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Відсутнє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Вартість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Безпека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50.7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64.3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4" name="Google Shape;234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Порівняльні Результати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60A44FAC-7D6F-B825-27DD-BAF2A16327ED}"/>
              </a:ext>
            </a:extLst>
          </p:cNvPr>
          <p:cNvSpPr txBox="1"/>
          <p:nvPr/>
        </p:nvSpPr>
        <p:spPr>
          <a:xfrm>
            <a:off x="11390654" y="581025"/>
            <a:ext cx="1437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9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>
          <a:extLst>
            <a:ext uri="{FF2B5EF4-FFF2-40B4-BE49-F238E27FC236}">
              <a16:creationId xmlns:a16="http://schemas.microsoft.com/office/drawing/2014/main" id="{CEC839B2-3270-37ED-B5C1-B6F5D43D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>
            <a:extLst>
              <a:ext uri="{FF2B5EF4-FFF2-40B4-BE49-F238E27FC236}">
                <a16:creationId xmlns:a16="http://schemas.microsoft.com/office/drawing/2014/main" id="{029B4504-9291-6B15-B4E9-94AA696B19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49E203B0-AC93-52E2-97CA-FA19E88C7E9B}"/>
              </a:ext>
            </a:extLst>
          </p:cNvPr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Порівняльні Результати</a:t>
            </a:r>
            <a:endParaRPr/>
          </a:p>
        </p:txBody>
      </p:sp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1564EE92-F6CE-48A4-4EC5-56303EC51276}"/>
              </a:ext>
            </a:extLst>
          </p:cNvPr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0C6B66B9-C9E5-DA51-89D0-57FD19D08CC6}"/>
              </a:ext>
            </a:extLst>
          </p:cNvPr>
          <p:cNvSpPr txBox="1"/>
          <p:nvPr/>
        </p:nvSpPr>
        <p:spPr>
          <a:xfrm>
            <a:off x="11257722" y="581025"/>
            <a:ext cx="2766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10</a:t>
            </a:r>
            <a:endParaRPr sz="2000" dirty="0">
              <a:solidFill>
                <a:schemeClr val="bg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FE8653C-6C2C-7797-5129-C84B0DF966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471270"/>
              </p:ext>
            </p:extLst>
          </p:nvPr>
        </p:nvGraphicFramePr>
        <p:xfrm>
          <a:off x="2357623" y="1556243"/>
          <a:ext cx="7476753" cy="4720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6145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71525" y="581025"/>
            <a:ext cx="4990623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Апробація та Публікації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914400" y="1847850"/>
            <a:ext cx="46101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Тези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доповіді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опубліковано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4-й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Міжнародній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конференції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«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Scientific Research: Theoretical and Practical Aspects</a:t>
            </a:r>
            <a:r>
              <a:rPr lang="uk-UA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Рига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Латвія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2026).</a:t>
            </a:r>
            <a:endParaRPr dirty="0"/>
          </a:p>
        </p:txBody>
      </p:sp>
      <p:sp>
        <p:nvSpPr>
          <p:cNvPr id="246" name="Google Shape;246;p23"/>
          <p:cNvSpPr txBox="1"/>
          <p:nvPr/>
        </p:nvSpPr>
        <p:spPr>
          <a:xfrm>
            <a:off x="914400" y="2669383"/>
            <a:ext cx="46101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Тема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"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Особливості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навігації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у 3D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просторі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uk-UA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грі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жанру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платформер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".</a:t>
            </a:r>
            <a:endParaRPr dirty="0"/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9071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1224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B3D091-4D77-0F76-7831-6C7A0E2C97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79" y="3490916"/>
            <a:ext cx="3749267" cy="2649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39AB75-7161-6F55-77C2-E0561E6AAE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540" y="2522761"/>
            <a:ext cx="4838700" cy="36179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09;p15">
            <a:extLst>
              <a:ext uri="{FF2B5EF4-FFF2-40B4-BE49-F238E27FC236}">
                <a16:creationId xmlns:a16="http://schemas.microsoft.com/office/drawing/2014/main" id="{622E0BA1-CF41-FC83-AF38-7A1236BD5CD1}"/>
              </a:ext>
            </a:extLst>
          </p:cNvPr>
          <p:cNvSpPr txBox="1"/>
          <p:nvPr/>
        </p:nvSpPr>
        <p:spPr>
          <a:xfrm>
            <a:off x="11266227" y="581025"/>
            <a:ext cx="2681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1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2095500" y="1611808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Підсумки</a:t>
            </a:r>
            <a:endParaRPr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2286000" y="2754808"/>
            <a:ext cx="7620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Метод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Voxel+A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забезпечує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100%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успішності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без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ручного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втручання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формує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безпечніші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маршрути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</a:t>
            </a:r>
            <a:r>
              <a:rPr lang="uk-UA" sz="18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рспективи розвитку: </a:t>
            </a:r>
            <a:r>
              <a:rPr lang="uk-UA" sz="18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інкрементальне</a:t>
            </a:r>
            <a:r>
              <a:rPr lang="uk-UA" sz="18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оновлення графа для рухомих платформ, підтримка додаткового набору рухів</a:t>
            </a:r>
            <a:endParaRPr lang="en-US" sz="180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2286000" y="5289012"/>
            <a:ext cx="7620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Дякую</a:t>
            </a: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увагу</a:t>
            </a: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dirty="0"/>
          </a:p>
        </p:txBody>
      </p:sp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3988FCAE-12E2-9EC2-2DE3-2BA43FDDBAC2}"/>
              </a:ext>
            </a:extLst>
          </p:cNvPr>
          <p:cNvSpPr txBox="1"/>
          <p:nvPr/>
        </p:nvSpPr>
        <p:spPr>
          <a:xfrm>
            <a:off x="11266227" y="581025"/>
            <a:ext cx="2681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2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552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 SemiBold</vt:lpstr>
      <vt:lpstr>Calibri</vt:lpstr>
      <vt:lpstr>Poppins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Александр Правосуд</dc:creator>
  <cp:lastModifiedBy>Sasha</cp:lastModifiedBy>
  <cp:revision>10</cp:revision>
  <dcterms:modified xsi:type="dcterms:W3CDTF">2026-05-20T16:48:07Z</dcterms:modified>
</cp:coreProperties>
</file>